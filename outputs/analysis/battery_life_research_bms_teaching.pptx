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建立整场课程的研究地图：同一批数据上我们做了哪些路线，以及哪些结论能用于 BMS 决策。
讲义正文
这一页先给听众一个总框架。当前工作不是单一模型报告，而是一组围绕寿命研究的证据链：先固定 policy+cell_code 的样本口径，再比较 deltaAh、dQdV、工况统计特征和因果区间；模型层面既有表格模型，也有 LSTM 和多步预测；最后把结果翻译成 BMS 可以使用的在线输入、风险边界和策略闭环。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开场时强调本课基于现有产物汇总，不包含本轮重训或刷新数值；页面上的数值均来自已有 Markdown 与分析目录。
来源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让听众知道课程会把工程可用性与机理解释分开，尤其区分事实、假设和 smoke 验证。
讲义正文
面向 BMS 的问题通常是“现在车上能不能算、能不能告警、能不能指导策略”；面向电池机理的问题是“这个特征为什么和寿命相关、是不是因果路径”。本课会把两者放在同一张证据链中，但不混为一谈。凡是现有结果支持的结论会直接讲；还没有正式验证的部分，只作为后续假设或实验建议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讲到模型时反复提醒：smoke 运行只说明脚本、路径、产物闭环可用，不能作为模型质量结论。
来源
outputs/analysis/battery_life_research_summary.md
logs/session_*.md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讲清楚训练/验证划分的基本口径，以及为什么它直接决定寿命模型结论可信度。
讲义正文
这里的样本不是单独某一个循环，而是 policy+cell_code 组合。这样做的好处是能把同一策略、同一电芯的历史视为完整样本，减少验证集泄漏。当前划分为训练 135、验证 52，并刻意覆盖变电流工况。对 BMS 听众来说，这意味着模型评价更接近“新电芯或新策略组合”的泛化问题，而不是记住同一电芯的局部曲线。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不要把 cycle 级样本数和 policy+cell_code 样本数混用；后者才是当前模型比较的核心单位。
来源
data/processed/train_policy_cell_samples.csv
data/processed/valid_policy_cell_samples.csv
data/processed/train_valid_hist_compare.png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帮助听众理解为什么项目里同时保留多条技术路线，而不是只选一个最终模型。
讲义正文
deltaAh 是最贴近容量积分的路线，便于解释也容易上线；dQdV 把充放电曲线中的峰形变化压缩为低维物理表征，通常更能反映活性物质和极化变化；159维工况统计把倍率、温度、时间和区间行为显式展开，适合表格模型学习非线性；因果区间路线则用于解释策略变化可能带来的容量和阻抗风险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这页是路线地图，不是性能排名；性能排名必须回到同一口径的验证结果。
来源
outputs/analysis/battery_life_research_summary.md
outputs/analysis/interval_features_to_dqdv_correlation/recommended_feature_pack_union.csv
scripts/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说明传统 ML 不是过渡品，而是当前若干特征路线的首选基线和决策锚点。
讲义正文
当输入是同一循环或同一窗口统计出来的固定维度特征时，表格模型天然合适：它不需要构造长序列，也不要求样本中存在足够长的历史上下文。RF、XGB 和小模型基线的作用，是先回答“这些统计特征本身有没有信号”。只有当任务明确变成“历史序列到当前或未来目标”时，LSTM 的归纳偏置才更有价值。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不要把“深度学习更高级”当作路线选择依据；本项目多处证据支持表格模型作为 compact2 的低成本优先路线。
来源
outputs/analysis/model_benchmark_policy_discharge/small_model_benchmark_metrics.png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让听众理解 deltaAh LSTM 的定位：它是序列链路验证，不是当前最强寿命预测结论。
讲义正文
deltaAh 特征与容量积分关系直接，因此非常适合做第一条 LSTM 序列建模链路。它证明了数据集构造、Colab 训练、checkpoint、预测输出和报告沉淀可以闭环。但在当前 retention 对比中，deltaAh LSTM 的验证 R2 约为 0.6133，低于 dQdV retention 路线。因此讲授时要把“链路可复用”和“模型最优”分开。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不要把 smoke 或早期链路结果讲成正式性能；deltaAh 路线是重要工程资产，但不是当前主推荐模型。
来源
outputs/analysis/battery_life_research_summary.md
logs/session_*.md
outputs/checkpoints/
outputs/predictions/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讲清 dQdV retention 模型为什么是当前研究中的关键正结果。
讲义正文
dQdV 把容量-电压曲线转成微分曲线，峰高、峰面积、峰位置和峰宽会随极化、活性物质损失和反应分布变化而移动。当前 dQdV LSTM 使用 10 维低维特征，在 retention 验证集上 R2 约为 0.9268，在 q_discharge 上 R2 约为 0.9356。这说明低维物理表征已经能解释大量寿命差异。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这里是验证集性能结论，但仍以当前数据和当前划分为边界；不要直接外推到所有化学体系或所有 BMS 场景。
来源
outputs/analysis/lstm_dqdv_retention_grid_colab_final/valid_scatter.png
outputs/analysis/lstm_dqdv_retention_grid_colab_final/loss_curve.png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用同口径对比说明为什么当前主线从 deltaAh 转向 dQdV retention。
讲义正文
deltaAh 与容量保持率关系直观，但它压缩掉了曲线形态。dQdV 的优势在于保留峰面积、峰高、峰位等信息，这些特征与反应过程和极化变化相关。已有对比中，dQdV retention 的加权 R2 约 0.9257，而 deltaAh retention 约 0.5601，deltaAh LSTM 验证 R2 也只有约 0.6133。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这里不是否定 deltaAh 的工程价值；它仍可作为在线简化指标或早期基线，但当前研究主成果更偏 dQdV。
来源
outputs/analysis/battery_life_research_summary.md
outputs/analysis/dqdv_feature_retention_correlation/spearman_global_bar.png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解释为什么“工况特征到 compact2”不应默认上 LSTM，而应先用表格模型。
讲义正文
159维工况统计已经把充电区间、倍率、温度、时间等行为压缩成固定向量，这时输入不再是原始时间序列。表格模型能更低成本地学习非线性关系，也更适合输出特征重要性和误差审计。LSTM 的优势在于处理历史序列依赖，如果输入只是同一 cycle 的统计向量，强行使用 LSTM 反而增加复杂度。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这是模型约束原则，不是永久禁止 LSTM；只有当输入恢复为多 cycle 历史序列时，LSTM 才重新成为自然选择。
来源
outputs/analysis/interval_features_to_dqdv_correlation/predictability_r2_comparison.png
outputs/analysis/interval_features_to_dqdv_correlation/recommended_feature_pack_union.csv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防止听众把桥接路线误读为已经证明端到端可部署效果。
讲义正文
bridge 的思想是先用工况特征预测 dQdV compact 表征，再用 compact 表征预测 retention。这里有两个口径：oracle bridge 使用真实 compact，更多说明 compact 本身有解释力；deployable bridge 使用由工况预测出来的 compact，才接近在线部署链路。现有结果中 direct retention_55 约 0.9419，deployable bridge_55 约 0.8971，compact2 deployable 约 0.8550。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 这里再强调边界。
讲授提醒
讲课时必须把 oracle、deployable、direct 三类柱子分开；oracle 不能被描述成 BMS 端到端性能。
来源
outputs/analysis/interval_feature_pack_compact2_retention_bridge/bridge_r2_comparison.png
outputs/analysis/compact_target_pack_retention_decision/retention_r2_by_target_pack.png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让听众理解多步预测结果必须和采样口径一起解读。
讲义正文
多步预测中，H=1、H=50 的难度不仅由预测距离决定，还受样本选择方式影响。rolling 会产生很多相邻起点，样本高度相关；fixed_origin 更像从某个时刻向未来看；non_overlapping_blocks 则更强调独立窗口。项目里专门区分这些口径，就是为了避免把短期偏差或标签分布差异误读成模型真的“远期更强”。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讲 H=1 看起来差、H=50 看起来好时，要强调这是偏差和分布问题，不是远期预测天然更容易。
来源
outputs/analysis/multistep_interval_to_dqdv_retention_blocks_h100_m50/retention_r2_by_horizon.png
outputs/analysis/battery_life_research_summary.md
logs/session_2026-05-07.md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强调 50 cycle 多步预测中，强基线是研究路线选择的硬约束。
讲义正文
在 non-overlapping blocks 的 H100/M50 设定里，linear_last10 是非常强的低成本基线，全局 R2 约 0.9865；direct retention 约 0.9134，deployable bridge 约 0.8266。这说明短中期容量保持率在当前数据中有很强的局部趋势性。任何复杂模型，包括 LSTM，都应先回答是否超过这个趋势外推基线。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不要因为模型更复杂就默认更适合多步预测；若没有超过 linear_last10，就应把它放在辅助路线。
来源
outputs/analysis/multistep_interval_to_dqdv_retention_blocks_h100_m50/retention_rmse_by_horizon.png
outputs/analysis/multistep_interval_to_dqdv_retention_blocks_h100_m50/retention_r2_by_horizon.png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讲清单调约束的正确用法：它是长期物理先验，不是逐点硬规则。
讲义正文
电池寿命从长期看应下降，但实测 retention 会受到容量估计噪声、温度、倍率和测试窗口影响，出现局部回弹。已有统计里真实 retention 曲线的逐点违反率约 0.8924，说明不能把逐点单调当作真值。带历史 retention 输入的单调 LSTM 在 H50 上 R2 约 0.9729，但这并不是纯 55 维工况模型，因此要明确输入条件。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单调后处理如果没有降低 H50 RMSE，就不能只凭“更符合物理”说它更好；输入包含历史 retention 时也不能宣称为纯可观测工况模型。
来源
outputs/analysis/monotonic_lstm_multistep_retention_blocks_h100_m50/valid_h50_scatter.png
outputs/analysis/battery_life_research_summary.md
logs/session_2026-05-11.md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把“倍率影响寿命”从经验判断推进到明确处理变量和估计口径。
讲义正文
倍率影响容量衰减的机理包括极化升高、热负荷增加和副反应加速。但因果估计不能只说“倍率高不好”，必须定义处理变量。当前结果中，window_mean +1C 的容量影响约 0.014658，initial +1C 约 0.013829，二者接近但并不等价。对 BMS 来说，窗口均值更像实际充电暴露，而初始倍率更像策略入口参数。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因果估计不是随机实验；讲授时要提示支持域、混杂控制和处理变量定义会影响解释。
来源
outputs/analysis/causal_initial_rate_effect/fig_plus1c_treatment_mode_compare.png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讲清温度中介分析的业务含义：温度是路径之一，但不是当前数据中的主导路径。
讲义正文
BMS 工程上常把温度视为寿命风险的重要变量。中介分析把问题拆成倍率的总效应、绕过温度的直接效应和通过温度传递的间接效应。当前结果 TE 约 0.007918，NDE 约 0.007678，NIE 约 0.000241，温度中介占比约 3.04%。这说明温度路径有信号，但当前容量变化主要仍由倍率直接路径解释。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不能把“温度中介占比不大”解释成温度不重要；它只是在当前数据、当前模型设定下不是主导中介。
来源
outputs/analysis/causal_rate_temp_mediation/fig_path_decomposition_global.png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说明为什么寿命研究不应只看容量，还要关注阻抗共同恶化。
讲义正文
容量保持率回答“还能存多少能量”，阻抗回答“还能以什么功率、安全边界和热负荷运行”。当前容量-阻抗联合分析中，Spearman 约 0.6354，Pearson 约 0.8641，共同恶化比例约 73.16%。这对 BMS 很关键：同样的容量保持率下，阻抗更高的电芯可能更早触发功率限制或热风险。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容量和阻抗相关不等于互为单向因果；这里的重点是联合风险识别和策略解释。
来源
outputs/analysis/capacity_ir_joint_causal/fig_cross_bin_dual_risk_matrix.png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把因果区间分析落到策略闭环，同时强调支持域边界。
讲义正文
区间替代分析试图回答：如果把某些充电区间的行为替换成另一种策略，容量风险会如何变化。它比相关性更接近策略问题，但仍受当前样本覆盖限制。已有策略闭环中，3 条建议可上线，7 条仍待验证，当前没有标成禁止外推；同时 bin05 的支持宽度仅 0.000106，这类结论应优先当作后续实验假设。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支持域很窄的因果结果不能直接变成策略规则；BMS 策略需要先做覆盖检查和小范围验证。
来源
outputs/analysis/charge_bin_substitution_causal/effect_forest_plot.png
outputs/analysis/battery_life_research_summary.md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把研究结果翻译成 BMS 端可能采用的工程架构。
讲义正文
BMS 落地不能只看哪个离线 R2 最高，而要从可观测输入出发。车端稳定可得的是电流、电压、温度、SOC 和充电区间统计；dQdV 可以先作为离线诊断或教师特征；固定统计特征到 retention 默认走表格模型；deployable bridge 可作为解释增强；因果区间用于策略边界，但必须经过支持域检查和小范围验证。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这页是工程路线建议，不是已经上线的产品架构；尤其不能把 oracle bridge 当作在线链路。
来源
outputs/analysis/battery_life_research_summary.md
outputs/analysis/interval_feature_pack_compact2_retention_bridge/
outputs/analysis/charge_bin_substitution_causal/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收束全课，把最重要的事实性结论集中交付给听众。
讲义正文
当前最稳的研究结论可以概括为六条：dQdV retention 是低维物理表征主成果；固定统计特征到 compact2/compact4 先用表格模型；H50 多步预测要先赢过 linear_last10；oracle bridge 和 deployable bridge 不能混讲；倍率-温度-容量因果链中温度中介存在但占比有限；容量与阻抗共同恶化明显，适合做联合 SOH 风险。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这页只放已有证据支持的事实，不把下一步假设当作结论。
来源
outputs/analysis/battery_life_research_summary.md
outputs/analysis/lstm_dqdv_retention_grid_colab_final/
outputs/analysis/multistep_interval_to_dqdv_retention_blocks_h100_m50/
outputs/analysis/causal_rate_temp_mediation/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讲授目标
给出课后研究和工程推进建议，避免停留在总结层。
讲义正文
下一步的重点不是继续堆模型，而是补齐可部署验证。第一条线是同口径正式验证，把 dQdV、direct retention、deployable bridge 和 linear_last10 放在同一测试框架下；第二条线是在线特征压缩，让 BMS 能实时计算；第三条线是策略实验，把因果区间结果经过支持域筛选后进入小范围验证。这样才能从研究证据走向工程闭环。
补充讲解：面向 BMS 听众，要把这一页结论落到可观测输入、在线计算成本、误差监控和策略风险；面向电池机理听众，要强调这些特征只是老化过程的观测投影，需要与容量、阻抗、温度和工况证据一起解释。
讲授提醒
任何新 smoke 只能证明链路闭环；正式性能、上线建议和策略收益必须来自完整验证。
来源
outputs/analysis/battery_life_research_summary.md
AGENTS.md
logs/session_*.md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当前数据上的电池寿命研究地图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BMS 工程与电池机理的 30-40 分钟授课版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从可观测工况到容量保持率，再到可部署预测边界</a:t>
            </a:r>
            <a:endParaRPr lang="en-US" sz="215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2532888" cy="1234440"/>
          </a:xfrm>
          <a:prstGeom prst="roundRect">
            <a:avLst>
              <a:gd name="adj" fmla="val 4444"/>
            </a:avLst>
          </a:prstGeom>
          <a:solidFill>
            <a:srgbClr val="E4F3F0"/>
          </a:solidFill>
          <a:ln w="12700">
            <a:solidFill>
              <a:srgbClr val="006C67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1518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822960" y="2907792"/>
            <a:ext cx="225856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+ cell_code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训练/验证分层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264408" y="3003804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8144" y="2487168"/>
            <a:ext cx="2532888" cy="1234440"/>
          </a:xfrm>
          <a:prstGeom prst="roundRect">
            <a:avLst>
              <a:gd name="adj" fmla="val 4444"/>
            </a:avLst>
          </a:prstGeom>
          <a:solidFill>
            <a:srgbClr val="EAF1F8"/>
          </a:solidFill>
          <a:ln w="12700">
            <a:solidFill>
              <a:srgbClr val="2B5C8A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261518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特征路线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3575304" y="2907792"/>
            <a:ext cx="225856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 / dQdV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159维工况统计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016752" y="3003804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2487168"/>
            <a:ext cx="2532888" cy="1234440"/>
          </a:xfrm>
          <a:prstGeom prst="roundRect">
            <a:avLst>
              <a:gd name="adj" fmla="val 4444"/>
            </a:avLst>
          </a:prstGeom>
          <a:solidFill>
            <a:srgbClr val="FFF1DF"/>
          </a:solidFill>
          <a:ln w="12700">
            <a:solidFill>
              <a:srgbClr val="C56A00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61518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模型路线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327648" y="2907792"/>
            <a:ext cx="225856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表格模型 / LSTM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多步预测与桥接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769096" y="3003804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2832" y="2487168"/>
            <a:ext cx="2532888" cy="1234440"/>
          </a:xfrm>
          <a:prstGeom prst="roundRect">
            <a:avLst>
              <a:gd name="adj" fmla="val 4444"/>
            </a:avLst>
          </a:prstGeom>
          <a:solidFill>
            <a:srgbClr val="F2EAF5"/>
          </a:solidFill>
          <a:ln w="12700">
            <a:solidFill>
              <a:srgbClr val="6D3B78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261518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机理解释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9079992" y="2907792"/>
            <a:ext cx="225856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倍率、温度、阻抗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区间替代因果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68096" y="46177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135 / 52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68096" y="505663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训练/验证样本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68096" y="5312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policy+cell_code 粒度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46120" y="4617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0.9268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3246120" y="505663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retention R2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246120" y="5312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验证集主成果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70448" y="4617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0.9865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5870448" y="505663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H50 强基线 R2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870448" y="5312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linear_last10，多步块口径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394192" y="46177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3.04%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8394192" y="505663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温度中介占比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394192" y="5312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主效应仍是倍率直接路径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来源：outputs/analysis/battery_life_research_summary.md</a:t>
            </a:r>
            <a:endParaRPr lang="en-US" sz="570" dirty="0"/>
          </a:p>
        </p:txBody>
      </p:sp>
      <p:sp>
        <p:nvSpPr>
          <p:cNvPr id="36" name="Text 34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讲授目标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BMS 能用什么，电池机理解释什么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把预测、解释和工程边界拆开讲，避免把研究结果误用成上线承诺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76656" y="1444752"/>
            <a:ext cx="5193792" cy="3291840"/>
          </a:xfrm>
          <a:prstGeom prst="roundRect">
            <a:avLst>
              <a:gd name="adj" fmla="val 1667"/>
            </a:avLst>
          </a:prstGeom>
          <a:solidFill>
            <a:srgbClr val="E4F3F0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54480"/>
            <a:ext cx="4864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BMS 工程的答案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841248" y="1828800"/>
            <a:ext cx="4864608" cy="2816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哪些输入在线可观测；哪些模型适合部署；哪些结论只能作为离线诊断；多步预测什么时候该信强基线。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355080" y="1444752"/>
            <a:ext cx="5193792" cy="3291840"/>
          </a:xfrm>
          <a:prstGeom prst="roundRect">
            <a:avLst>
              <a:gd name="adj" fmla="val 1667"/>
            </a:avLst>
          </a:prstGeom>
          <a:solidFill>
            <a:srgbClr val="F2EAF5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554480"/>
            <a:ext cx="4864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给电池机理的答案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6519672" y="1828800"/>
            <a:ext cx="4864608" cy="2816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峰形为何关联 SOH；倍率和温度如何进入衰减路径；容量与阻抗为什么要联合看。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05840" y="5349240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5285232"/>
            <a:ext cx="102047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事实：已有 CSV/PNG/报告直接支持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05840" y="5733288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5669280"/>
            <a:ext cx="102047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假设：只作为后续解释或实验方向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005840" y="6117336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6053328"/>
            <a:ext cx="102047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smoke：只证明链路闭环，不代表正式性能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来源：outputs/analysis/battery_life_research_summary.md；logs/session_*.md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先固定样本口径，再比较模型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+ cell_code 是样本单位；retention 是寿命研究的核心目标之一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989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data\processed\train_valid_hist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20" y="1417320"/>
            <a:ext cx="5856281" cy="4297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769864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训练/验证分布对比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86600" y="16276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135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086600" y="2066544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训练样本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7086600" y="23225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policy+cell_code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006840" y="16276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9006840" y="2066544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验证样本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9006840" y="23225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policy+cell_code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995160" y="2971800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14616" y="2907792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验证集覆盖变电流工况，降低只在常规策略上评估的偏差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6995160" y="3474720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14616" y="3410712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划分不按单个 cycle 打散，避免同一电芯历史泄漏到验证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6995160" y="3977640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14616" y="3913632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retention 便于跨电芯、跨策略比较容量衰减相对程度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6995160" y="4892040"/>
            <a:ext cx="4297680" cy="786384"/>
          </a:xfrm>
          <a:prstGeom prst="roundRect">
            <a:avLst>
              <a:gd name="adj" fmla="val 6977"/>
            </a:avLst>
          </a:prstGeom>
          <a:solidFill>
            <a:srgbClr val="EAF1F8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59752" y="5001768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课堂主判断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7159752" y="5276088"/>
            <a:ext cx="396849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模型比较之前，先保证样本单位、目标定义和验证集覆盖是同一把尺。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来源：data/processed/train_policy_cell_samples.csv；data/processed/valid_policy_cell_samples.csv；data/processed/train_valid_hist_compare.png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特征路线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四条特征路线对应四类寿命信息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同一问题可以从容量积分、曲线形态、工况统计和因果区间进入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713232" y="1353312"/>
            <a:ext cx="10698480" cy="804672"/>
          </a:xfrm>
          <a:prstGeom prst="roundRect">
            <a:avLst>
              <a:gd name="adj" fmla="val 6818"/>
            </a:avLst>
          </a:prstGeom>
          <a:solidFill>
            <a:srgbClr val="E4F3F0"/>
          </a:solidFill>
          <a:ln w="12700">
            <a:solidFill>
              <a:srgbClr val="006C67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996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63240" y="1508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充放电容量增量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60920" y="150876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直观、易落地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10698480" cy="804672"/>
          </a:xfrm>
          <a:prstGeom prst="roundRect">
            <a:avLst>
              <a:gd name="adj" fmla="val 6818"/>
            </a:avLst>
          </a:prstGeom>
          <a:solidFill>
            <a:srgbClr val="EAF1F8"/>
          </a:solidFill>
          <a:ln w="12700">
            <a:solidFill>
              <a:srgbClr val="2B5C8A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33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63240" y="2642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电压-容量微分峰形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264261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低维物理表征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13232" y="3621024"/>
            <a:ext cx="10698480" cy="804672"/>
          </a:xfrm>
          <a:prstGeom prst="roundRect">
            <a:avLst>
              <a:gd name="adj" fmla="val 6818"/>
            </a:avLst>
          </a:prstGeom>
          <a:solidFill>
            <a:srgbClr val="FFF1DF"/>
          </a:solidFill>
          <a:ln w="12700">
            <a:solidFill>
              <a:srgbClr val="C56A00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7673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159维工况统计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63240" y="3776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充电区间、倍率、温度、时间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60920" y="37764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更适合表格模型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13232" y="4754880"/>
            <a:ext cx="10698480" cy="804672"/>
          </a:xfrm>
          <a:prstGeom prst="roundRect">
            <a:avLst>
              <a:gd name="adj" fmla="val 6818"/>
            </a:avLst>
          </a:prstGeom>
          <a:solidFill>
            <a:srgbClr val="F2EAF5"/>
          </a:solidFill>
          <a:ln w="12700">
            <a:solidFill>
              <a:srgbClr val="6D3B78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90118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因果区间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063240" y="4910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倍率、温度、阻抗、替代策略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60920" y="49103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解释策略影响边界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14400" y="5833872"/>
            <a:ext cx="10241280" cy="438912"/>
          </a:xfrm>
          <a:prstGeom prst="roundRect">
            <a:avLst>
              <a:gd name="adj" fmla="val 12500"/>
            </a:avLst>
          </a:prstGeom>
          <a:solidFill>
            <a:srgbClr val="FCEBEB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943600"/>
            <a:ext cx="9912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B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桥接逻辑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1078992" y="6217920"/>
            <a:ext cx="9912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工况特征可以预测 dQdV compact 表征，再由 compact 表征预测 retention；但 oracle bridge 与 deployable bridge 必须分开。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来源：outputs/analysis/battery_life_research_summary.md；scripts/*dqdv*；scripts/*retention*</a:t>
            </a:r>
            <a:endParaRPr lang="en-US" sz="570" dirty="0"/>
          </a:p>
        </p:txBody>
      </p:sp>
      <p:sp>
        <p:nvSpPr>
          <p:cNvPr id="27" name="Text 2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ML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表格基线证明非线性关系值得建模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RF/XGB/小模型基线是深度学习路线之前的低成本锚点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7150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model_benchmark_policy_discharge\small_model_benchmark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32208"/>
            <a:ext cx="5715000" cy="19307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632704"/>
            <a:ext cx="5623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小模型基准指标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720840" y="1417320"/>
            <a:ext cx="4434840" cy="1005840"/>
          </a:xfrm>
          <a:prstGeom prst="roundRect">
            <a:avLst>
              <a:gd name="adj" fmla="val 5455"/>
            </a:avLst>
          </a:prstGeom>
          <a:solidFill>
            <a:srgbClr val="E4F3F0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85432" y="1527048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主判断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6885432" y="1801368"/>
            <a:ext cx="41056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cycle 级统计特征到 compact2，默认先用表格模型，而不是强行上 LSTM。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812280" y="2852928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31736" y="2788920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表格模型适合固定维度统计特征，训练和解释成本低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12280" y="3355848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31736" y="3291840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随机森林与梯度提升可捕捉工况和容量衰退的非线性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12280" y="3858768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31736" y="3794760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这些基线也是后续 LSTM 是否“值得”的比较对象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来源：outputs/analysis/model_benchmark_policy_discharge/small_model_benchmark_metrics.png；outputs/analysis/battery_life_research_summary.md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 LSTM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 LSTM 打通了序列链路，但不是当前最强路线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它的价值更多在于证明 Colab/序列训练链路可复用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713232" y="1508760"/>
            <a:ext cx="2063496" cy="1234440"/>
          </a:xfrm>
          <a:prstGeom prst="roundRect">
            <a:avLst>
              <a:gd name="adj" fmla="val 4444"/>
            </a:avLst>
          </a:prstGeom>
          <a:solidFill>
            <a:srgbClr val="E4F3F0"/>
          </a:solidFill>
          <a:ln w="12700">
            <a:solidFill>
              <a:srgbClr val="006C67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36776"/>
            <a:ext cx="1789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50392" y="1929384"/>
            <a:ext cx="178917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24维每步特征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charge interval / deltaAh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822448" y="2025396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6184" y="1508760"/>
            <a:ext cx="2063496" cy="1234440"/>
          </a:xfrm>
          <a:prstGeom prst="roundRect">
            <a:avLst>
              <a:gd name="adj" fmla="val 4444"/>
            </a:avLst>
          </a:prstGeom>
          <a:solidFill>
            <a:srgbClr val="EAF1F8"/>
          </a:solidFill>
          <a:ln w="12700">
            <a:solidFill>
              <a:srgbClr val="2B5C8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3344" y="1636776"/>
            <a:ext cx="1789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3133344" y="1929384"/>
            <a:ext cx="178917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历史序列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到当前/未来目标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105400" y="2025396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9136" y="1508760"/>
            <a:ext cx="2063496" cy="1234440"/>
          </a:xfrm>
          <a:prstGeom prst="roundRect">
            <a:avLst>
              <a:gd name="adj" fmla="val 4444"/>
            </a:avLst>
          </a:prstGeom>
          <a:solidFill>
            <a:srgbClr val="FFF1DF"/>
          </a:solidFill>
          <a:ln w="12700">
            <a:solidFill>
              <a:srgbClr val="C56A00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6296" y="1636776"/>
            <a:ext cx="1789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5416296" y="1929384"/>
            <a:ext cx="1789176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q_discharge 或 retention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验证集预测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60120" y="3882597"/>
            <a:ext cx="1897380" cy="1009443"/>
          </a:xfrm>
          <a:prstGeom prst="rect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589989"/>
            <a:ext cx="1952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0.6133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86968" y="4983480"/>
            <a:ext cx="2043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 LSTM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R2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3086100" y="3366601"/>
            <a:ext cx="1897380" cy="1525439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8668" y="3073993"/>
            <a:ext cx="1952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0.9268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012948" y="4983480"/>
            <a:ext cx="2043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retention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R2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960120" y="4892040"/>
            <a:ext cx="4023360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2999232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2EAF5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88152" y="3108960"/>
            <a:ext cx="5065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为什么仍然重要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5788152" y="3383280"/>
            <a:ext cx="5065776" cy="1216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 路线让序列数据集、训练入口、Colab notebook、checkpoint 与预测产物形成闭环；但在同口径 retention 任务上，它不是当前性能主线。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760720" y="5138928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0176" y="5074920"/>
            <a:ext cx="4718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适合“历史序列 -&gt; 当前/未来目标”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760720" y="5486400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0176" y="5422392"/>
            <a:ext cx="4718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不适合替代表格模型处理同-cycle固定统计特征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760720" y="5833872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0176" y="5769864"/>
            <a:ext cx="4718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正式性能结论必须与 dQdV 和表格基线同口径比较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来源：outputs/analysis/battery_life_research_summary.md；outputs/logs/；outputs/checkpoints/；logs/session_*.md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LSTM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是当前最清晰的低维物理表征主成果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10维峰形/曲线特征在 retention 任务上取得高验证集 R2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58368" y="1353312"/>
            <a:ext cx="52578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lstm_dqdv_retention_grid_colab_final\valid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1353312"/>
            <a:ext cx="4535424" cy="4251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5660136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验证集预测 vs 真实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217920" y="1353312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11" name="Image 1" descr="C:\Users\pal\projects\batt_soh\outputs\analysis\lstm_dqdv_retention_grid_colab_final\loss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53312"/>
            <a:ext cx="4480560" cy="2560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3640" y="39684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训练/验证 loss 曲线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6355080" y="42793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0.9268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6355080" y="4718304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retention R2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6355080" y="49743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valid_r2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8275320" y="42793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0.9356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8275320" y="4718304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q_discharge R2</a:t>
            </a:r>
            <a:endParaRPr lang="en-US" sz="880" dirty="0"/>
          </a:p>
        </p:txBody>
      </p:sp>
      <p:sp>
        <p:nvSpPr>
          <p:cNvPr id="18" name="Text 14"/>
          <p:cNvSpPr/>
          <p:nvPr/>
        </p:nvSpPr>
        <p:spPr>
          <a:xfrm>
            <a:off x="8275320" y="49743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valid_r2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9966960" y="42793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300" dirty="0"/>
          </a:p>
        </p:txBody>
      </p:sp>
      <p:sp>
        <p:nvSpPr>
          <p:cNvPr id="20" name="Text 16"/>
          <p:cNvSpPr/>
          <p:nvPr/>
        </p:nvSpPr>
        <p:spPr>
          <a:xfrm>
            <a:off x="9966960" y="471830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输入维度</a:t>
            </a:r>
            <a:endParaRPr lang="en-US" sz="880" dirty="0"/>
          </a:p>
        </p:txBody>
      </p:sp>
      <p:sp>
        <p:nvSpPr>
          <p:cNvPr id="21" name="Text 17"/>
          <p:cNvSpPr/>
          <p:nvPr/>
        </p:nvSpPr>
        <p:spPr>
          <a:xfrm>
            <a:off x="9966960" y="4974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features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来源：outputs/analysis/lstm_dqdv_retention_grid_colab_final/valid_scatter.png；loss_curve.png；metrics.csv</a:t>
            </a:r>
            <a:endParaRPr lang="en-US" sz="570" dirty="0"/>
          </a:p>
        </p:txBody>
      </p:sp>
      <p:sp>
        <p:nvSpPr>
          <p:cNvPr id="23" name="Text 19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vs deltaAh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同口径下，dQdV retention 明显优于 deltaAh 路线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差异来自信息形态：峰形变化比单纯容量增量携带更多机理信息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868680" y="1888410"/>
            <a:ext cx="1584960" cy="2793318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95802"/>
            <a:ext cx="1639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0.9257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795528" y="4773168"/>
            <a:ext cx="173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weighted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retention R2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682240" y="2991615"/>
            <a:ext cx="1584960" cy="1690113"/>
          </a:xfrm>
          <a:prstGeom prst="rect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4808" y="2699007"/>
            <a:ext cx="1639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0.5601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609088" y="4773168"/>
            <a:ext cx="173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 weighted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retention R2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495800" y="2831083"/>
            <a:ext cx="1584960" cy="1850645"/>
          </a:xfrm>
          <a:prstGeom prst="rect">
            <a:avLst/>
          </a:prstGeom>
          <a:solidFill>
            <a:srgbClr val="6D3B78"/>
          </a:solidFill>
          <a:ln w="12700">
            <a:solidFill>
              <a:srgbClr val="6D3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8368" y="2538475"/>
            <a:ext cx="1639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0.6133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422648" y="4773168"/>
            <a:ext cx="173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 LSTM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R2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868680" y="4681728"/>
            <a:ext cx="5212080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417320"/>
            <a:ext cx="45720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18" name="Image 0" descr="C:\Users\pal\projects\batt_soh\outputs\analysis\dqdv_feature_retention_correlation\spearman_global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43376"/>
            <a:ext cx="4572000" cy="25025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37960" y="462686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特征与 retention 的 Spearman 相关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868680" y="5285232"/>
            <a:ext cx="10149840" cy="658368"/>
          </a:xfrm>
          <a:prstGeom prst="roundRect">
            <a:avLst>
              <a:gd name="adj" fmla="val 8333"/>
            </a:avLst>
          </a:prstGeom>
          <a:solidFill>
            <a:srgbClr val="E4F3F0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" y="5394960"/>
            <a:ext cx="9820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机理解释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1033272" y="5669280"/>
            <a:ext cx="982065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容量增量更像结果变量；dQdV 峰形更接近衰退机制留下的“形态指纹”。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来源：outputs/analysis/battery_life_research_summary.md；outputs/analysis/dqdv_feature_retention_correlation/spearman_global_bar.png</a:t>
            </a:r>
            <a:endParaRPr lang="en-US" sz="570" dirty="0"/>
          </a:p>
        </p:txBody>
      </p:sp>
      <p:sp>
        <p:nvSpPr>
          <p:cNvPr id="24" name="Text 21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工况 -&gt; dQdV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从工况统计到 compact2，先用表格模型更合理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固定维度 cycle 级统计特征不天然要求 LSTM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806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interval_features_to_dqdv_correlation\predictability_r2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68830"/>
            <a:ext cx="5806440" cy="29032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72414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区间工况特征预测 dQdV compact 的 R2 对比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812280" y="1417320"/>
            <a:ext cx="4389120" cy="960120"/>
          </a:xfrm>
          <a:prstGeom prst="roundRect">
            <a:avLst>
              <a:gd name="adj" fmla="val 5714"/>
            </a:avLst>
          </a:prstGeom>
          <a:solidFill>
            <a:srgbClr val="FFF1DF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76872" y="152704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主判断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6976872" y="1801368"/>
            <a:ext cx="405993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cycle 级统计特征到 compact2/compact4：表格模型是默认首选。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903720" y="2807208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23176" y="2743200"/>
            <a:ext cx="37581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159维工况统计已经把区间行为显式聚合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6903720" y="3310128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23176" y="3246120"/>
            <a:ext cx="37581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表格模型更容易做特征重要性与误差审计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6903720" y="3813048"/>
            <a:ext cx="109728" cy="109728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23176" y="3749040"/>
            <a:ext cx="37581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应保留给历史序列输入，而非固定向量输入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6812280" y="4892040"/>
            <a:ext cx="4389120" cy="713232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76872" y="500176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BMS 含义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6976872" y="5276088"/>
            <a:ext cx="4059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在线可观测工况可以先变成稳定统计量，再进入轻量表格模型。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来源：outputs/analysis/interval_features_to_dqdv_correlation/predictability_r2_comparison.png；recommended_feature_pack_union.csv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compact bridge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bridge 与 deployable bridge 必须分开讲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桥接路线有助于解释，但不能夸大端到端部署效果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212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interval_feature_pack_compact2_retention_bridge\bridge_r2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60527"/>
            <a:ext cx="5212080" cy="23826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58698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interval -&gt; compact -&gt; retention 桥接 R2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400800" y="1883152"/>
            <a:ext cx="1234440" cy="2067056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3368" y="1590544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0.9419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6327648" y="4041648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retention_55</a:t>
            </a:r>
            <a:endParaRPr lang="en-US" sz="730" dirty="0"/>
          </a:p>
        </p:txBody>
      </p:sp>
      <p:sp>
        <p:nvSpPr>
          <p:cNvPr id="13" name="Shape 10"/>
          <p:cNvSpPr/>
          <p:nvPr/>
        </p:nvSpPr>
        <p:spPr>
          <a:xfrm>
            <a:off x="7863840" y="1981468"/>
            <a:ext cx="1234440" cy="1968740"/>
          </a:xfrm>
          <a:prstGeom prst="rect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6408" y="168886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0.8971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7790688" y="4041648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deployable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bridge_55</a:t>
            </a:r>
            <a:endParaRPr lang="en-US" sz="730" dirty="0"/>
          </a:p>
        </p:txBody>
      </p:sp>
      <p:sp>
        <p:nvSpPr>
          <p:cNvPr id="16" name="Shape 13"/>
          <p:cNvSpPr/>
          <p:nvPr/>
        </p:nvSpPr>
        <p:spPr>
          <a:xfrm>
            <a:off x="9326880" y="2073859"/>
            <a:ext cx="1234440" cy="1876349"/>
          </a:xfrm>
          <a:prstGeom prst="rect">
            <a:avLst/>
          </a:prstGeom>
          <a:solidFill>
            <a:srgbClr val="6D3B78"/>
          </a:solidFill>
          <a:ln w="12700">
            <a:solidFill>
              <a:srgbClr val="6D3B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99448" y="1781251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0.8550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9253728" y="4041648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compact2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deployable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6400800" y="3950208"/>
            <a:ext cx="4160520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448056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4590288"/>
            <a:ext cx="4425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B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讲授边界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6473952" y="4864608"/>
            <a:ext cx="44256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使用真实 compact，deployable 使用工况预测 compact；两者不是同一个可部署难度。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来源：outputs/analysis/interval_feature_pack_compact2_retention_bridge/bridge_r2_comparison.png；compact_target_pack_retention_decision/retention_r2_by_target_pack.png</a:t>
            </a:r>
            <a:endParaRPr lang="en-US" sz="570" dirty="0"/>
          </a:p>
        </p:txBody>
      </p:sp>
      <p:sp>
        <p:nvSpPr>
          <p:cNvPr id="24" name="Text 21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多步预测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多步预测要先讲清 sampling 口径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rolling、fixed_origin、non_overlapping_blocks 评价的不是同一件事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4892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multistep_interval_to_dqdv_retention_blocks_h100_m50\retention_r2_by_horiz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919151"/>
            <a:ext cx="4892040" cy="25624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0" y="508406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 retention R2 by horizon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713232" y="1600200"/>
            <a:ext cx="1484376" cy="1828800"/>
          </a:xfrm>
          <a:prstGeom prst="roundRect">
            <a:avLst>
              <a:gd name="adj" fmla="val 3696"/>
            </a:avLst>
          </a:prstGeom>
          <a:solidFill>
            <a:srgbClr val="E4F3F0"/>
          </a:solidFill>
          <a:ln w="12700">
            <a:solidFill>
              <a:srgbClr val="006C67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1728216"/>
            <a:ext cx="121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rolling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850392" y="2020824"/>
            <a:ext cx="1210056" cy="1298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每个起点滚动预测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样本密集但相关性强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2243328" y="2414016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17064" y="1600200"/>
            <a:ext cx="1484376" cy="1828800"/>
          </a:xfrm>
          <a:prstGeom prst="roundRect">
            <a:avLst>
              <a:gd name="adj" fmla="val 3696"/>
            </a:avLst>
          </a:prstGeom>
          <a:solidFill>
            <a:srgbClr val="EAF1F8"/>
          </a:solidFill>
          <a:ln w="12700">
            <a:solidFill>
              <a:srgbClr val="2B5C8A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54224" y="1728216"/>
            <a:ext cx="121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fixed_origin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54224" y="2020824"/>
            <a:ext cx="1210056" cy="1298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固定起点向未来看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适合单次前瞻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3947160" y="2414016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20896" y="1600200"/>
            <a:ext cx="1484376" cy="1828800"/>
          </a:xfrm>
          <a:prstGeom prst="roundRect">
            <a:avLst>
              <a:gd name="adj" fmla="val 3696"/>
            </a:avLst>
          </a:prstGeom>
          <a:solidFill>
            <a:srgbClr val="FFF1DF"/>
          </a:solidFill>
          <a:ln w="12700">
            <a:solidFill>
              <a:srgbClr val="C56A00">
                <a:alpha val="7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8056" y="1728216"/>
            <a:ext cx="121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blocks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258056" y="2020824"/>
            <a:ext cx="1210056" cy="1298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非重叠块评估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更接近独立窗口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822960" y="4343400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2EAF5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" y="4453128"/>
            <a:ext cx="4288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课堂主判断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987552" y="4727448"/>
            <a:ext cx="428853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H=1 和 H=50 前，先确认是不是同一种采样和同一种标签分布。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来源：outputs/analysis/multistep_interval_to_dqdv_retention_blocks_h100_m50/retention_r2_by_horizon.png；outputs/analysis/battery_life_research_summary.md</a:t>
            </a:r>
            <a:endParaRPr lang="en-US" sz="570" dirty="0"/>
          </a:p>
        </p:txBody>
      </p:sp>
      <p:sp>
        <p:nvSpPr>
          <p:cNvPr id="25" name="Text 22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cycle 预测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H=50 上 linear_last10 是必须尊重的强基线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多步模型要先赢过低成本趋势外推，再谈复杂序列模型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58368" y="1353312"/>
            <a:ext cx="5166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multistep_interval_to_dqdv_retention_blocks_h100_m50\retention_rmse_by_horiz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34758"/>
            <a:ext cx="5166360" cy="270618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5477256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 retention RMSE by horizon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400800" y="1353312"/>
            <a:ext cx="4572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11" name="Image 1" descr="C:\Users\pal\projects\batt_soh\outputs\analysis\monotonic_lstm_multistep_retention_blocks_h100_m50\valid_h50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662" y="1353312"/>
            <a:ext cx="3904275" cy="3108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451713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H50 验证散点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6355080" y="4784278"/>
            <a:ext cx="1356360" cy="81185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27648" y="4491670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0.9865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6281928" y="5687568"/>
            <a:ext cx="150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linear_last10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R2</a:t>
            </a:r>
            <a:endParaRPr lang="en-US" sz="730" dirty="0"/>
          </a:p>
        </p:txBody>
      </p:sp>
      <p:sp>
        <p:nvSpPr>
          <p:cNvPr id="16" name="Shape 12"/>
          <p:cNvSpPr/>
          <p:nvPr/>
        </p:nvSpPr>
        <p:spPr>
          <a:xfrm>
            <a:off x="7940040" y="4844436"/>
            <a:ext cx="1356360" cy="751692"/>
          </a:xfrm>
          <a:prstGeom prst="rect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12608" y="4551828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0.9134</a:t>
            </a:r>
            <a:endParaRPr lang="en-US" sz="920" dirty="0"/>
          </a:p>
        </p:txBody>
      </p:sp>
      <p:sp>
        <p:nvSpPr>
          <p:cNvPr id="18" name="Text 14"/>
          <p:cNvSpPr/>
          <p:nvPr/>
        </p:nvSpPr>
        <p:spPr>
          <a:xfrm>
            <a:off x="7866888" y="5687568"/>
            <a:ext cx="150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R2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9525000" y="4915869"/>
            <a:ext cx="1356360" cy="680259"/>
          </a:xfrm>
          <a:prstGeom prst="rect">
            <a:avLst/>
          </a:prstGeom>
          <a:solidFill>
            <a:srgbClr val="6D3B78"/>
          </a:solidFill>
          <a:ln w="12700">
            <a:solidFill>
              <a:srgbClr val="6D3B7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497568" y="4623261"/>
            <a:ext cx="141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0.8266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9451848" y="5687568"/>
            <a:ext cx="150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deployable bridge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R2</a:t>
            </a:r>
            <a:endParaRPr lang="en-US" sz="730" dirty="0"/>
          </a:p>
        </p:txBody>
      </p:sp>
      <p:sp>
        <p:nvSpPr>
          <p:cNvPr id="22" name="Shape 18"/>
          <p:cNvSpPr/>
          <p:nvPr/>
        </p:nvSpPr>
        <p:spPr>
          <a:xfrm>
            <a:off x="6355080" y="5596128"/>
            <a:ext cx="4526280" cy="0"/>
          </a:xfrm>
          <a:prstGeom prst="line">
            <a:avLst/>
          </a:prstGeom>
          <a:noFill/>
          <a:ln w="12700">
            <a:solidFill>
              <a:srgbClr val="D7E0D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来源：outputs/analysis/multistep_interval_to_dqdv_retention_blocks_h100_m50/retention_rmse_by_horizon.png；monotonic_lstm.../valid_h50_scatter.png</a:t>
            </a:r>
            <a:endParaRPr lang="en-US" sz="570" dirty="0"/>
          </a:p>
        </p:txBody>
      </p:sp>
      <p:sp>
        <p:nvSpPr>
          <p:cNvPr id="24" name="Text 20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单调约束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物理先验要约束趋势，不应强行抹掉测量波动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容量保持率长期应衰减，但单点曲线会有噪声和回弹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0.8924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真实曲线违反率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68680" y="2203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逐点单调违反比例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17520" y="1508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0.9729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017520" y="194767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H50 R2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017520" y="2203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带历史 retention 输入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68680" y="2788920"/>
            <a:ext cx="4617720" cy="1417320"/>
          </a:xfrm>
          <a:prstGeom prst="roundRect">
            <a:avLst>
              <a:gd name="adj" fmla="val 3871"/>
            </a:avLst>
          </a:prstGeom>
          <a:solidFill>
            <a:srgbClr val="E4F3F0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898648"/>
            <a:ext cx="4288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解释方式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033272" y="3172968"/>
            <a:ext cx="428853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单调是老化过程的长期先验，不等于每个相邻 cycle 都必须下降。后处理 cummin 和单调 LSTM 要与误差指标一起评估。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989320" y="137160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17" name="Image 0" descr="C:\Users\pal\projects\batt_soh\outputs\analysis\monotonic_lstm_multistep_retention_blocks_h100_m50\valid_h50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94883"/>
            <a:ext cx="5166360" cy="411395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35040" y="5586984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 LSTM H50 验证散点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来源：outputs/analysis/monotonic_lstm_multistep_retention_blocks_h100_m50/valid_h50_scatter.png；outputs/analysis/battery_life_research_summary.md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因果主线一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倍率对容量衰减的影响要看处理定义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initial_rate 与 window_mean_rate 不是同一个因果问题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6235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causal_initial_rate_effect\fig_plus1c_treatment_mode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86352"/>
            <a:ext cx="5623560" cy="24224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678424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+1C treatment mode 对比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720840" y="1737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0.014658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720840" y="217627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window_mean +1C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6720840" y="24323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effect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098280" y="17373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0.013829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9098280" y="2176272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initial +1C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9098280" y="2432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effect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812280" y="3310128"/>
            <a:ext cx="109728" cy="10972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31736" y="3246120"/>
            <a:ext cx="3895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倍率越高通常带来更强极化和热负荷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812280" y="3767328"/>
            <a:ext cx="109728" cy="10972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31736" y="3703320"/>
            <a:ext cx="3895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窗口均值更贴近实际充电区间暴露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6812280" y="4224528"/>
            <a:ext cx="109728" cy="10972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31736" y="4160520"/>
            <a:ext cx="3895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因果估计必须同时检查支持域和混杂控制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来源：outputs/analysis/causal_initial_rate_effect/fig_plus1c_treatment_mode_compare.png；effect_summary.csv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因果主线二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温度中介存在，但当前数据中占比不大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倍率主要仍通过直接路径影响容量，温度路径提供可解释补充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532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causal_rate_temp_mediation\fig_path_decomposition_glob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29875"/>
            <a:ext cx="5532120" cy="29354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678424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倍率 -&gt; 温度 -&gt; 容量路径分解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675120" y="16459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0.007918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675120" y="208483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6675120" y="2340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 effect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275320" y="16459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0.007678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8275320" y="208483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NDE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8275320" y="2340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875520" y="16459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0.000241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875520" y="208483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NIE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9875520" y="2340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mediated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675120" y="306324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2EAF5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9712" y="3172968"/>
            <a:ext cx="4151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中介占比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6839712" y="3447288"/>
            <a:ext cx="415137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NIE / TE 约为 3.04%，说明温度路径存在但不是当前主导解释。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来源：outputs/analysis/causal_rate_temp_mediation/fig_path_decomposition_global.png；path_decomposition.csv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因果主线三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容量与阻抗要联合看，单一 SOH 指标会漏掉风险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容量保持率下降和内阻上升存在共同恶化区间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1353312"/>
            <a:ext cx="54864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capacity_ir_joint_causal\fig_cross_bin_dual_risk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71572"/>
            <a:ext cx="5486400" cy="1706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751576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容量-阻抗双风险矩阵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629400" y="16002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0.6354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629400" y="2039112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6629400" y="22951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vs IR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458200" y="16002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0.8641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8458200" y="203911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Pearson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8458200" y="22951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vs IR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0012680" y="16002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73.16%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0012680" y="203911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both worsen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0012680" y="2295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共同恶化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720840" y="3218688"/>
            <a:ext cx="109728" cy="109728"/>
          </a:xfrm>
          <a:prstGeom prst="ellipse">
            <a:avLst/>
          </a:prstGeom>
          <a:solidFill>
            <a:srgbClr val="6D3B78"/>
          </a:solidFill>
          <a:ln w="12700">
            <a:solidFill>
              <a:srgbClr val="6D3B7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0296" y="3154680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容量下降反映可用能量损失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6720840" y="3675888"/>
            <a:ext cx="109728" cy="109728"/>
          </a:xfrm>
          <a:prstGeom prst="ellipse">
            <a:avLst/>
          </a:prstGeom>
          <a:solidFill>
            <a:srgbClr val="6D3B78"/>
          </a:solidFill>
          <a:ln w="12700">
            <a:solidFill>
              <a:srgbClr val="6D3B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0296" y="3611880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阻抗上升影响功率、热和电压边界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6720840" y="4133088"/>
            <a:ext cx="109728" cy="109728"/>
          </a:xfrm>
          <a:prstGeom prst="ellipse">
            <a:avLst/>
          </a:prstGeom>
          <a:solidFill>
            <a:srgbClr val="6D3B78"/>
          </a:solidFill>
          <a:ln w="12700">
            <a:solidFill>
              <a:srgbClr val="6D3B7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40296" y="4069080"/>
            <a:ext cx="3986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联合指标更接近 BMS 风险管理</a:t>
            </a:r>
            <a:endParaRPr lang="en-US" sz="1030" dirty="0"/>
          </a:p>
        </p:txBody>
      </p:sp>
      <p:sp>
        <p:nvSpPr>
          <p:cNvPr id="25" name="Text 22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来源：outputs/analysis/capacity_ir_joint_causal/fig_cross_bin_dual_risk_matrix.png；joint_effect_summary.csv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区间替代与策略闭环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策略建议要受支持域约束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区间替代能给方向，但不能跳出当前数据覆盖做外推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57607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DC">
                <a:alpha val="90000"/>
              </a:srgbClr>
            </a:solidFill>
            <a:prstDash val="solid"/>
          </a:ln>
        </p:spPr>
      </p:sp>
      <p:pic>
        <p:nvPicPr>
          <p:cNvPr id="8" name="Image 0" descr="C:\Users\pal\projects\batt_soh\outputs\analysis\charge_bin_substitution_causal\effect_forest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64624"/>
            <a:ext cx="5760720" cy="36659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567842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charge bin substitution effect forest plot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812280" y="16276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7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812280" y="206654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可上线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6812280" y="23225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策略闭环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458200" y="16276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8458200" y="206654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待验证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8458200" y="23225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策略闭环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0058400" y="16276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0058400" y="206654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禁止外推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0058400" y="23225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当前标记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720840" y="3063240"/>
            <a:ext cx="4434840" cy="914400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85432" y="3172968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B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支持域提醒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6885432" y="3447288"/>
            <a:ext cx="4105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bin05 的风险结论存在极窄 support_width_1_99=0.000106，优先作为假设而不是强决策。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来源：outputs/analysis/charge_bin_substitution_causal/effect_forest_plot.png；strategy_loop_summary.csv；battery_life_research_summary.md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BMS 落地框架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可部署链路从可观测输入开始，而不是从最高 R2 开始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把离线机理特征、在线统计特征和策略边界分层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2555748" cy="1417320"/>
          </a:xfrm>
          <a:prstGeom prst="roundRect">
            <a:avLst>
              <a:gd name="adj" fmla="val 3871"/>
            </a:avLst>
          </a:prstGeom>
          <a:solidFill>
            <a:srgbClr val="E4F3F0"/>
          </a:solidFill>
          <a:ln w="12700">
            <a:solidFill>
              <a:srgbClr val="006C67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91056"/>
            <a:ext cx="22814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车端可观测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22960" y="1883664"/>
            <a:ext cx="2281428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电流、电压、温度、SOC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充电区间统计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287268" y="2071116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1004" y="1463040"/>
            <a:ext cx="2555748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 w="12700">
            <a:solidFill>
              <a:srgbClr val="2B5C8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8164" y="1591056"/>
            <a:ext cx="22814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在线特征层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3598164" y="1883664"/>
            <a:ext cx="2281428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deltaAh / 工况统计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必要时估计 compact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062472" y="2071116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463040"/>
            <a:ext cx="2555748" cy="1417320"/>
          </a:xfrm>
          <a:prstGeom prst="roundRect">
            <a:avLst>
              <a:gd name="adj" fmla="val 3871"/>
            </a:avLst>
          </a:prstGeom>
          <a:solidFill>
            <a:srgbClr val="FFF1DF"/>
          </a:solidFill>
          <a:ln w="12700">
            <a:solidFill>
              <a:srgbClr val="C56A00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591056"/>
            <a:ext cx="22814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373368" y="1883664"/>
            <a:ext cx="2281428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表格模型为默认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历史序列才用 LSTM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837676" y="2071116"/>
            <a:ext cx="137160" cy="201168"/>
          </a:xfrm>
          <a:prstGeom prst="rightArrow">
            <a:avLst/>
          </a:prstGeom>
          <a:solidFill>
            <a:srgbClr val="5A6673"/>
          </a:solidFill>
          <a:ln w="12700">
            <a:solidFill>
              <a:srgbClr val="5A667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11412" y="1463040"/>
            <a:ext cx="2555748" cy="1417320"/>
          </a:xfrm>
          <a:prstGeom prst="roundRect">
            <a:avLst>
              <a:gd name="adj" fmla="val 3871"/>
            </a:avLst>
          </a:prstGeom>
          <a:solidFill>
            <a:srgbClr val="F2EAF5"/>
          </a:solidFill>
          <a:ln w="12700">
            <a:solidFill>
              <a:srgbClr val="6D3B78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8572" y="1591056"/>
            <a:ext cx="22814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D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策略层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9148572" y="1883664"/>
            <a:ext cx="2281428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风险评分、告警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倍率/温度边界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14400" y="3401568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EAF1F8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511296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离线诊断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078992" y="3785616"/>
            <a:ext cx="287121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高性能结果适合先做健康诊断和模型教师。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4480560" y="3401568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E4F3F0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511296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在线预测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645152" y="3785616"/>
            <a:ext cx="287121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固定统计特征优先表格模型，保持轻量可审计。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8046720" y="3401568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FCEBEB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3511296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B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策略约束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8211312" y="3785616"/>
            <a:ext cx="287121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因果结果必须经过支持域和小范围验证。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1005840" y="5276088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25296" y="5212080"/>
            <a:ext cx="9838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第一阶段：复用 direct retention 与工况表格模型做离线验证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1005840" y="5623560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5296" y="5559552"/>
            <a:ext cx="9838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第二阶段：把 deployable bridge 作为可解释增强，不替代主预测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1005840" y="5971032"/>
            <a:ext cx="109728" cy="109728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25296" y="5907024"/>
            <a:ext cx="9838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第三阶段：将因果区间接入策略仿真和 A/B 验证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来源：outputs/analysis/battery_life_research_summary.md；outputs/analysis/interval_feature_pack_compact2_retention_bridge/；outputs/analysis/charge_bin_substitution_causal/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当前显著结论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当前最稳的结论是“dQdV 主线 + 表格桥接 + 强基线约束”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模型选择要围绕证据，而不是围绕算法偏好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777240" y="1289304"/>
            <a:ext cx="320040" cy="320040"/>
          </a:xfrm>
          <a:prstGeom prst="ellipse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4416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61872" y="123444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dQdV retention 是当前最强的低维物理表征结果，valid R2=0.9268。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777240" y="2039112"/>
            <a:ext cx="320040" cy="320040"/>
          </a:xfrm>
          <a:prstGeom prst="ellipse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9397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61872" y="1984248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cycle 级统计特征到 compact2/compact4，优先表格模型。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777240" y="2788920"/>
            <a:ext cx="320040" cy="320040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437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61872" y="2734056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 H50 必须尊重 linear_last10 强基线，all R2=0.9865。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777240" y="3538728"/>
            <a:ext cx="320040" cy="320040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935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61872" y="348386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bridge 只说明 compact 有解释力，deployable bridge 才接近上线链路。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77240" y="4288536"/>
            <a:ext cx="320040" cy="320040"/>
          </a:xfrm>
          <a:prstGeom prst="ellipse">
            <a:avLst/>
          </a:prstGeom>
          <a:solidFill>
            <a:srgbClr val="6D3B78"/>
          </a:solidFill>
          <a:ln w="12700">
            <a:solidFill>
              <a:srgbClr val="6D3B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34340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61872" y="423367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倍率影响容量，温度中介存在但当前占比约 3.04%。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777240" y="5038344"/>
            <a:ext cx="320040" cy="320040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09320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61872" y="498348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容量和阻抗共同恶化明显，BMS 不应只看容量 SOH。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来源：outputs/analysis/battery_life_research_summary.md；各路线 outputs/analysis 子目录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C67"/>
          </a:solidFill>
          <a:ln w="12700">
            <a:solidFill>
              <a:srgbClr val="006C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下一步路线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120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下一步不是“再堆模型”，而是补齐可部署验证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A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把正式实验、在线输入和策略闭环拆成三条线推进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337560" cy="2926080"/>
          </a:xfrm>
          <a:prstGeom prst="roundRect">
            <a:avLst>
              <a:gd name="adj" fmla="val 1875"/>
            </a:avLst>
          </a:prstGeom>
          <a:solidFill>
            <a:srgbClr val="EAF1F8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27048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B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模型验证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987552" y="1801368"/>
            <a:ext cx="3008376" cy="2450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policy+cell_code 口径，复核 dQdV、direct retention、deployable bridge 和 linear_last10 的同口径性能。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37560" cy="2926080"/>
          </a:xfrm>
          <a:prstGeom prst="roundRect">
            <a:avLst>
              <a:gd name="adj" fmla="val 1875"/>
            </a:avLst>
          </a:prstGeom>
          <a:solidFill>
            <a:srgbClr val="E4F3F0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527048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在线可部署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4599432" y="1801368"/>
            <a:ext cx="3008376" cy="2450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159维工况统计压缩为 BMS 可实时计算的特征子集，先用表格模型建立轻量链路。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337560" cy="2926080"/>
          </a:xfrm>
          <a:prstGeom prst="roundRect">
            <a:avLst>
              <a:gd name="adj" fmla="val 1875"/>
            </a:avLst>
          </a:prstGeom>
          <a:solidFill>
            <a:srgbClr val="FFF1DF"/>
          </a:solidFill>
          <a:ln w="12700">
            <a:solidFill>
              <a:srgbClr val="D7E0DC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527048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5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策略实验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8211312" y="1801368"/>
            <a:ext cx="3008376" cy="2450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对倍率、温度和区间替代建议做支持域筛选，再进入小范围验证和仿真闭环。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005840" y="5138928"/>
            <a:ext cx="109728" cy="10972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5074920"/>
            <a:ext cx="9838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所有新训练先跑 smoke，但只把正式长任务结果写成性能结论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1005840" y="5504688"/>
            <a:ext cx="109728" cy="10972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5440680"/>
            <a:ext cx="9838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多步预测先验证 monotonic/趋势外推，再决定是否投入重 LSTM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005840" y="5870448"/>
            <a:ext cx="109728" cy="10972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806440"/>
            <a:ext cx="9838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讲义版本可继续扩展为论文结构：摘要、方法、结果、讨论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B86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来源：outputs/analysis/battery_life_research_summary.md；AGENTS.md；logs/session_*.md</a:t>
            </a:r>
            <a:endParaRPr lang="en-US" sz="570" dirty="0"/>
          </a:p>
        </p:txBody>
      </p:sp>
      <p:sp>
        <p:nvSpPr>
          <p:cNvPr id="23" name="Text 21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batt_soh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当前数据上的电池寿命研究地图</dc:title>
  <dc:subject>当前数据上的电池寿命研究授课材料</dc:subject>
  <dc:creator>Codex</dc:creator>
  <cp:lastModifiedBy>Codex</cp:lastModifiedBy>
  <cp:revision>1</cp:revision>
  <dcterms:created xsi:type="dcterms:W3CDTF">2026-05-13T03:25:17Z</dcterms:created>
  <dcterms:modified xsi:type="dcterms:W3CDTF">2026-05-13T03:25:17Z</dcterms:modified>
</cp:coreProperties>
</file>